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63" r:id="rId5"/>
  </p:sldMasterIdLst>
  <p:notesMasterIdLst>
    <p:notesMasterId r:id="rId33"/>
  </p:notesMasterIdLst>
  <p:sldIdLst>
    <p:sldId id="256" r:id="rId6"/>
    <p:sldId id="408" r:id="rId7"/>
    <p:sldId id="436" r:id="rId8"/>
    <p:sldId id="320" r:id="rId9"/>
    <p:sldId id="432" r:id="rId10"/>
    <p:sldId id="409" r:id="rId11"/>
    <p:sldId id="433" r:id="rId12"/>
    <p:sldId id="410" r:id="rId13"/>
    <p:sldId id="411" r:id="rId14"/>
    <p:sldId id="412" r:id="rId15"/>
    <p:sldId id="414" r:id="rId16"/>
    <p:sldId id="415" r:id="rId17"/>
    <p:sldId id="417" r:id="rId18"/>
    <p:sldId id="434" r:id="rId19"/>
    <p:sldId id="430" r:id="rId20"/>
    <p:sldId id="314" r:id="rId21"/>
    <p:sldId id="431" r:id="rId22"/>
    <p:sldId id="424" r:id="rId23"/>
    <p:sldId id="419" r:id="rId24"/>
    <p:sldId id="420" r:id="rId25"/>
    <p:sldId id="426" r:id="rId26"/>
    <p:sldId id="421" r:id="rId27"/>
    <p:sldId id="427" r:id="rId28"/>
    <p:sldId id="428" r:id="rId29"/>
    <p:sldId id="422" r:id="rId30"/>
    <p:sldId id="423" r:id="rId31"/>
    <p:sldId id="2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88767" autoAdjust="0"/>
  </p:normalViewPr>
  <p:slideViewPr>
    <p:cSldViewPr snapToGrid="0">
      <p:cViewPr varScale="1">
        <p:scale>
          <a:sx n="56" d="100"/>
          <a:sy n="56" d="100"/>
        </p:scale>
        <p:origin x="3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A08D6-E137-3341-A5EE-84219A24203E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6901F-C6C3-9E47-9843-744856EDDD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863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C543-3BA0-2116-0F1E-94C1E1D5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69DC9-EC8E-645E-1C58-D55868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0D467-5B4B-CC56-066A-CF933CEF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4C8EA-7EAB-CAAB-E3ED-1438B1620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0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290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470D-4C2B-8C31-6E8D-A0B598F0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73600-B5FB-53D8-C038-A188915DA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6A0FC-8AB3-532B-B770-801311AFB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720A-E5F2-784C-58E9-63ADA3866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5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1D19-6ED2-2425-2067-9AEC7EA9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0453F-C6D2-5DDD-0A12-CD38FCF49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C0771-8705-840C-9045-5C775E3D4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CD161-BE3C-7398-89E0-FE270812B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586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19F5-5152-EEA0-7461-22A5E8F2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DA0D2-6C20-A073-96BF-FB821827A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9357C-525A-343D-1241-4C37B0DEA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6D39-3843-2CF0-1A62-3A318E994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88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E1AD-E44B-AAB0-F3DF-79192DC5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48295-EB35-976B-6C03-624D0438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EC477-7FF1-A08E-D341-B88317CB8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Lightweight compared to Virtual Machines (VMs) as they don’t require a full guest OS.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1961E-E2E8-D608-2A7C-454DC8C43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30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8225-A94A-290B-5177-5ECA756F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F5306-04E6-346D-625A-CEA3C7DF5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5308A-FEC3-95D1-9EF2-032CFFA8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1EE61-5E5A-15F7-AE04-373DFA4FB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23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D3E2-B3C2-3C96-0698-3D002022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58EC3-DF45-CC2D-BE96-1E567ABC5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27357-2AC9-6071-A8AB-1363FCE93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187AF-5BE7-61FF-703D-FAF361006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45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12DB9-D90E-D61C-0A5D-06619539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D0C20-3389-F72F-C5F0-1C0A7DE2D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C2515-DFAF-DF2E-E02B-5D47B460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DFFF8-37C7-DB1B-FE98-729F8CACB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27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F11B-0032-001E-0BE8-45DA92E6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AF897-D17A-2B09-9484-25AFC43A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0EA6E-6F38-ABA1-7083-167EFC588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43C3-8711-61D5-3A08-627091250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600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A2D7-4D90-0C80-273E-2C5B52CA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59656-40FA-257E-52C9-8AFA0CFE2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6064A-1961-230B-B7F3-79E287A2B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 = singularity image file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B928C-413A-0102-62B7-B2E063F9A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4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581AF-D841-43F1-4A5E-C8F32C5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7A524-D373-D582-733A-2668E5BEB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1DE24-A2AD-69D0-4981-070CC2A32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 = singularity image file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14039-34C1-126A-85BA-2EFF083DA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18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B2C2-6A2C-FA81-2F17-1924EB75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C1BCC-2B55-31AB-61CB-48E399BD1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CCBD6-356C-EC0F-CF24-28FF4E6AC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 = singularity image file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3ABCF-7B0D-7007-E309-A8B7264CC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575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 = singularity image file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51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8C14-849A-7AF6-5037-30EE8543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86F22-6988-5A12-C59C-FF2D229BC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27903-2D09-8B61-9C4A-9F0E3BDD4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2708C-4D9B-9F63-7562-ED83F3004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5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EDD1C-ACE2-9FC4-25FB-E1A2BD80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0D6C7-E176-B66E-149F-3C6C9DEE3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C7A8B-6B6C-C1D7-11BF-B99A8F943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labels, environment variables, or definition file info.</a:t>
            </a:r>
          </a:p>
          <a:p>
            <a:r>
              <a:rPr lang="en-US" dirty="0"/>
              <a:t>Good way to verify if the image has CUDA/GPU, Python, etc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CB059-6489-289A-F015-A3D451247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62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2E89-02E9-C743-23A9-AF412104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06CD2-A677-6126-B047-84BFCD047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F7A59-026B-5ED6-5EC4-B18F0209C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ECD24-37C9-62AA-3A88-A634DFF8A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513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2604-1C3C-0560-EB1F-1E876465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31E8D-3DB5-23FE-7998-08BE2C076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12A32-4566-4032-B9C4-63EA4F611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D94ED-41F9-A466-C165-4E76B7DD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1698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207D-149B-7E35-B090-F6FEE4B8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C25C0-589B-F298-82CF-B83C31476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F382B-25D7-F63C-B7E8-5DECBFC3B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 = singularity image file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4C6A9-6A23-FEE7-7461-0CFA2C8BE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58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0DF8-071B-8236-7092-C9CC9980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A1C68-AF2E-28C0-59D4-6BEBE50F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0753C-3DED-0BC0-431F-7C9508C4D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AF4FE-C36C-48B6-5652-966A8055F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78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77446-181C-02A8-9DF2-E2258384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5843C-C39B-B104-595D-DBB0B85F5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63FF7-339F-B0B5-729C-97791D1CA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labels, environment variables, or definition file info.</a:t>
            </a:r>
          </a:p>
          <a:p>
            <a:r>
              <a:rPr lang="en-US" dirty="0"/>
              <a:t>Good way to verify if the image has CUDA/GPU, Python, etc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219D0-A3F3-156E-AE23-D2451C4AF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61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ED53-4B95-C837-9E0E-ADE1FBE9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7155B-97F5-64E2-8E26-97A176F06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A3347-71A1-B659-15B9-C763150C0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234BD-F301-F4A4-F694-AA7FFD961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752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4143-E8EE-BE92-D81E-61187D838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065DC-BDD4-DACB-EC43-4BCA125A1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5EC1A-0DBF-E315-90F7-1036CDC9D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1218-8232-DC2F-94EB-E2F0CA504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02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0F6A-E77A-2E6B-BF77-2DD5284B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F61AB-A206-3155-E331-C30ECAAC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62704-7D6A-AD76-DBD5-56BBBF251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53CDA-0233-8C7B-954E-E5E392503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18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316551ed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129" name="Google Shape;129;g12316551ed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g12316551ed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2933-1853-3695-5698-EA2C873D5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39900-6690-4850-B14D-CFF0A6DD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EF43-FA77-3703-DB72-C6218B04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2B1B4-AC37-41B2-EB63-E0D769F4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1D7D-D016-C86F-111E-51245E7B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0B542-AE2F-4E58-DD66-7DA9CB44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21B0-98E4-9776-8ABB-72C7B07A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8BD9-1414-8B11-5258-F11F3BBA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4D6A-8FFE-9010-6B80-0D3AF7386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C118D-ED74-9896-00B7-30E4B4A25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23C3-E703-C5F2-391E-8CAC9B48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D22A4-3FA3-0497-439D-8B89F518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749B8-4480-A15F-DBDA-F96FBF7E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9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C907-23BF-774E-B09C-A6EDA349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7B3C-0071-EA5F-E094-0A5F8BA3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5657-1F64-B5C8-4E74-1198B072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B8B4-21E7-E875-972F-EEC0FFBC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BC84-32CB-DB27-3B87-426A4455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4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731D-55DE-9F2E-D8F1-9F7901B4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54E67-3FF6-9CA9-19B0-BAE377597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3602-A4B9-EEDC-D418-DBA902A0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191DD-F832-3E44-06D4-705F978C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53C8-631D-52DA-1D1F-9AB3BAA5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3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EC00-030F-EEF0-BBD3-B4BCD0C1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5933-6FAA-BE25-BE4F-77CDE9DD7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8AEAA-01EF-E67B-AB25-033F1D6B0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167D8-463A-88CB-1C03-DA41BAB2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BB2B6-6FDF-F153-8EDF-ECDD1CF2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2DB40-37E2-212A-E54E-A16DA2A2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62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5F1C-FE2C-552B-60FB-C0750038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BCAD-478D-69A3-442E-A1D5E8DE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CA36F-BDC3-0F57-4154-BE339EFB9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FCE88-BF92-7F4A-897F-C8FEC659B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BB82C-E030-FA61-FAFD-B54C56B3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F690D-3586-F612-11C6-A80D659F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4C747-A73E-1780-F029-9DFBB169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DA9CA-83C2-D1C7-21B7-6FA25166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2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9B16-62D2-B1D7-9274-7136D7DF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3A322-70BB-30CF-1857-7E86A1E1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04FC9-3B87-F0F0-F1D4-5C3F9D34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44135-0C6B-FEBA-C238-C6ED680E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4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30674-323E-719E-847D-E7CDD6D6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0ED06-D6B5-E3F1-EF87-A5B3BEBD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C7977-127F-31BF-1FC4-A505D26D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1E3D-EE41-75C8-85E3-349FA0E1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4D1E-4AF6-523B-A4FB-B3857979C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EC994-0D6B-5E95-3482-24BF74644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A4F59-9862-468D-39BA-080C2B0D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EA81C-EB0D-CF08-0D08-956CF31E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D4CFE-8A7F-E5E5-5AF3-E5610CB8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40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136C-981C-CD6C-A369-EA5C5438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E452D-0DAF-E58C-9A30-884242E5B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D6107-8453-6A21-1294-DB66861F3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3316-8EF6-2DFC-3D73-23C3962C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4EC9F-F128-4E3F-38B3-F4417D9F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B00AC-7DBB-B0EA-9087-8E8CB862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34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EC39-9017-7468-4A1A-E59C9D4F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2A7E3-4DFA-5E8D-31D5-F646374D7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967EA-72DB-C621-1047-09798F2A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65BC-EBAD-236E-2DE5-802AE624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4C25-FFAB-79D6-0334-889F498A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21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9D95D-E0CE-9755-4BE1-CE70EC7DB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3F19F-544D-6750-87E0-C64F5697D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51DF-5349-1051-047D-2B482FDE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97F57-B65C-3C46-0AEB-9126BF16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08C82-2941-B02E-65F1-3910F567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0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F543F-785B-81AD-859C-25E1E14F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11285-AC5A-F005-FEA3-CACE5986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EED0-1DC9-A7B8-1AA0-116CA0EB6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560F-461C-6043-9BC4-489BA92F7161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A367C9-3AA6-1192-2565-6CDE4E3F4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46811"/>
            <a:ext cx="4724400" cy="5842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A2128F-B59B-98EB-B50C-F663F9DCC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250484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4CD1A-3BC0-35A7-1271-C9A2721E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37290-ABC5-D2DE-246C-6112AA0C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399A2-2D16-B325-562F-69CC7B6FD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9/9/2026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BD3D-D725-30B5-953E-59F82ABB8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5D0B8-BC2A-A712-AFCB-8584FB641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28320-9777-5F4E-A26C-96EE0A94E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8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rado.edu/rc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esearchComputing/applied_containerization_for_ml_short_course" TargetMode="External"/><Relationship Id="rId5" Type="http://schemas.openxmlformats.org/officeDocument/2006/relationships/hyperlink" Target="mailto:rc-help@colorado.edu" TargetMode="External"/><Relationship Id="rId4" Type="http://schemas.openxmlformats.org/officeDocument/2006/relationships/hyperlink" Target="https://curc.readthedocs.io/en/lates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tainer.org/docs/user/latest/definition_fil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talog.ngc.nvidia.com/search?filters=resourceType%7CCollection%7Ccollection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72"/>
          <a:stretch/>
        </p:blipFill>
        <p:spPr>
          <a:xfrm>
            <a:off x="0" y="0"/>
            <a:ext cx="12227404" cy="40525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92" y="4780697"/>
            <a:ext cx="10539171" cy="1024268"/>
          </a:xfrm>
          <a:effectLst/>
        </p:spPr>
        <p:txBody>
          <a:bodyPr>
            <a:noAutofit/>
          </a:bodyPr>
          <a:lstStyle/>
          <a:p>
            <a:pPr algn="l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Applied Containerization for Machine Learning in HPC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320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-US" dirty="0">
                <a:cs typeface="Arial"/>
              </a:rPr>
              <a:t>Applied Containerization for Machine Learning in HPC</a:t>
            </a: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483476" y="1825624"/>
            <a:ext cx="6984124" cy="4337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5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Website: </a:t>
            </a:r>
            <a:r>
              <a:rPr lang="en-US" sz="25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http://www.colorado.edu/rc</a:t>
            </a:r>
            <a:endParaRPr lang="en-US" sz="25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Documentation: 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  <a:hlinkClick r:id="rId4"/>
              </a:rPr>
              <a:t>https://curc.readthedocs.io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Helpdesk: </a:t>
            </a:r>
            <a:r>
              <a:rPr lang="en-US" sz="25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rc-help@colorado.edu</a:t>
            </a:r>
            <a:endParaRPr lang="en-US" sz="25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CE021-D81D-A362-27C3-90945AB46B7E}"/>
              </a:ext>
            </a:extLst>
          </p:cNvPr>
          <p:cNvSpPr txBox="1"/>
          <p:nvPr/>
        </p:nvSpPr>
        <p:spPr>
          <a:xfrm>
            <a:off x="7227875" y="5132891"/>
            <a:ext cx="4531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Century Gothic"/>
              </a:rPr>
              <a:t>Slides</a:t>
            </a:r>
          </a:p>
          <a:p>
            <a:pPr marL="0" indent="0" algn="ctr">
              <a:buNone/>
            </a:pPr>
            <a:r>
              <a:rPr lang="en-US" sz="1800" dirty="0">
                <a:latin typeface="Century Gothic"/>
                <a:hlinkClick r:id="rId6"/>
              </a:rPr>
              <a:t>https://github.com/ResearchComputing/applied_containerization_for_ml_short_course</a:t>
            </a:r>
            <a:endParaRPr lang="en-US" sz="1800" dirty="0">
              <a:latin typeface="Century Gothic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268BA-02B5-728C-94A2-03BC82A8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pic>
        <p:nvPicPr>
          <p:cNvPr id="7" name="Picture 6" descr="Black-and-white QR code for slides of applied containerization for machine learning in hpc">
            <a:extLst>
              <a:ext uri="{FF2B5EF4-FFF2-40B4-BE49-F238E27FC236}">
                <a16:creationId xmlns:a16="http://schemas.microsoft.com/office/drawing/2014/main" id="{1A2F38E7-166F-46C0-8014-031D0B1ECB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895" y="1883762"/>
            <a:ext cx="3113506" cy="3190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A011-CED0-D3EF-CE89-F77AAE92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099F7-E7C9-6763-FB68-11424D8C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pic>
        <p:nvPicPr>
          <p:cNvPr id="6" name="Picture 5" descr="Photograph collage introducing User Support Team members from Research Computing at University of Colorado Boulder, featuring individual headshots with names labeled below each photo. ">
            <a:extLst>
              <a:ext uri="{FF2B5EF4-FFF2-40B4-BE49-F238E27FC236}">
                <a16:creationId xmlns:a16="http://schemas.microsoft.com/office/drawing/2014/main" id="{8675D0B1-FD30-FF5B-9658-43A255F77B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67" y="203628"/>
            <a:ext cx="10689866" cy="60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1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F519-AE7F-36C9-168F-1F04A49B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Overview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DA88744-9F33-89AA-81CB-71BE6F157C5F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10652760" cy="405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Goals:</a:t>
            </a:r>
          </a:p>
          <a:p>
            <a:pPr lvl="1"/>
            <a:r>
              <a:rPr lang="en-US" sz="2000" dirty="0"/>
              <a:t>Understand containerization in HPC context</a:t>
            </a:r>
          </a:p>
          <a:p>
            <a:pPr lvl="1"/>
            <a:r>
              <a:rPr lang="en-US" sz="2000" dirty="0"/>
              <a:t>Learn Apptainer for ML workloads</a:t>
            </a:r>
          </a:p>
          <a:p>
            <a:pPr lvl="1"/>
            <a:r>
              <a:rPr lang="en-US" sz="2000" dirty="0"/>
              <a:t>Run TensorFlow and PyTorch containers</a:t>
            </a:r>
          </a:p>
          <a:p>
            <a:pPr lvl="1"/>
            <a:r>
              <a:rPr lang="en-US" sz="2000" dirty="0"/>
              <a:t>Submit jobs with SLURM</a:t>
            </a:r>
          </a:p>
          <a:p>
            <a:r>
              <a:rPr lang="en-US" sz="2400" dirty="0"/>
              <a:t>Agenda:</a:t>
            </a:r>
          </a:p>
          <a:p>
            <a:pPr lvl="1"/>
            <a:r>
              <a:rPr lang="en-US" sz="2000" dirty="0"/>
              <a:t>Intro to containers</a:t>
            </a:r>
          </a:p>
          <a:p>
            <a:pPr lvl="1"/>
            <a:r>
              <a:rPr lang="en-US" sz="2000" dirty="0"/>
              <a:t>Apptainer deep-dive</a:t>
            </a:r>
          </a:p>
          <a:p>
            <a:pPr lvl="1"/>
            <a:r>
              <a:rPr lang="en-US" sz="2000" dirty="0"/>
              <a:t>TensorFlow &amp; PyTorch demos</a:t>
            </a:r>
          </a:p>
          <a:p>
            <a:pPr lvl="1"/>
            <a:r>
              <a:rPr lang="en-US" sz="2000" dirty="0"/>
              <a:t>SLURM integration</a:t>
            </a:r>
          </a:p>
          <a:p>
            <a:pPr lvl="1"/>
            <a:r>
              <a:rPr lang="en-US" sz="2000" dirty="0"/>
              <a:t>Best practices &amp; troubleshooting tips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97113-4E89-1CAC-8F64-8E901EF4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153142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2AB15-6456-2D02-6351-2472003A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5D0E-5E41-C6A1-4D42-5756B511F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Why Containers for ML in HPC?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0B299D-152B-A66E-9171-074A5DF35C3F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10652760" cy="40546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Dependency Management</a:t>
            </a:r>
            <a:endParaRPr lang="en-US" dirty="0"/>
          </a:p>
          <a:p>
            <a:pPr lvl="1"/>
            <a:r>
              <a:rPr lang="en-US" dirty="0"/>
              <a:t>Package complex ML software stacks with all dependencies.</a:t>
            </a:r>
          </a:p>
          <a:p>
            <a:pPr lvl="1"/>
            <a:r>
              <a:rPr lang="en-US" dirty="0"/>
              <a:t>Resolve version conflicts and avoid "dependency hell."</a:t>
            </a:r>
          </a:p>
          <a:p>
            <a:r>
              <a:rPr lang="en-US" b="1" dirty="0"/>
              <a:t>Portability</a:t>
            </a:r>
          </a:p>
          <a:p>
            <a:pPr lvl="1"/>
            <a:r>
              <a:rPr lang="en-US" dirty="0"/>
              <a:t>Run the same environment across different HPC systems, local machines, or cloud platforms.</a:t>
            </a:r>
          </a:p>
          <a:p>
            <a:pPr lvl="1"/>
            <a:r>
              <a:rPr lang="en-US" dirty="0"/>
              <a:t>"Build once, run anywhere." </a:t>
            </a:r>
          </a:p>
          <a:p>
            <a:r>
              <a:rPr lang="en-US" b="1" dirty="0"/>
              <a:t>Scalability</a:t>
            </a:r>
          </a:p>
          <a:p>
            <a:pPr lvl="1"/>
            <a:r>
              <a:rPr lang="en-US" dirty="0"/>
              <a:t>Easily scale workloads from a laptop to thousands of nodes.</a:t>
            </a:r>
          </a:p>
          <a:p>
            <a:pPr lvl="1"/>
            <a:r>
              <a:rPr lang="en-US" dirty="0"/>
              <a:t>Integrate seamlessly with schedulers like SLURM for large ML jobs.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E53ED-861E-9A67-BB22-795985C2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271819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DB24-DC36-86ED-055A-4D74A7AC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46D6-56A5-5AD1-D8E6-60FF338B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Why Containers for ML in HPC? (cont.)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D44E8FB-CC47-C8A5-9CE0-77F41495B480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10373360" cy="405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Reproducibility</a:t>
            </a:r>
          </a:p>
          <a:p>
            <a:pPr lvl="1"/>
            <a:r>
              <a:rPr lang="en-US" dirty="0"/>
              <a:t>Capture the exact software environment for consistent, repeatable results.</a:t>
            </a:r>
          </a:p>
          <a:p>
            <a:r>
              <a:rPr lang="en-US" b="1" dirty="0"/>
              <a:t>Performance</a:t>
            </a:r>
          </a:p>
          <a:p>
            <a:pPr lvl="1"/>
            <a:r>
              <a:rPr lang="en-US" dirty="0"/>
              <a:t>Near-native speed with minimal overhead; direct access to GPUs and high-speed interconnects.</a:t>
            </a:r>
          </a:p>
          <a:p>
            <a:pPr lvl="1"/>
            <a:r>
              <a:rPr lang="en-US" dirty="0"/>
              <a:t>Optimized images can boost job throughput and resource utilization.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540A4-B16E-196E-D786-C166BBDB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31220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5CCC-21BD-3392-D538-00DD8E86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2891-BE0F-308A-E37D-5A81E511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275" y="2450741"/>
            <a:ext cx="7578687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Containerization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50D65-A962-CDC2-8C2A-7C552657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143470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923B-F819-9631-E640-5E443511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083F-1BC8-57D9-2867-4F805106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What is a container?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01E13A4-A82B-9EE1-EC83-D112EB0B8974}"/>
              </a:ext>
            </a:extLst>
          </p:cNvPr>
          <p:cNvSpPr txBox="1">
            <a:spLocks/>
          </p:cNvSpPr>
          <p:nvPr/>
        </p:nvSpPr>
        <p:spPr>
          <a:xfrm>
            <a:off x="980439" y="1797925"/>
            <a:ext cx="10157613" cy="4173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Container Image: A self-contained read-only file (or files) used to run the packaged application</a:t>
            </a:r>
          </a:p>
          <a:p>
            <a:endParaRPr lang="en-US" dirty="0"/>
          </a:p>
          <a:p>
            <a:r>
              <a:rPr lang="en-US" dirty="0"/>
              <a:t>Container: A running instance of a container image</a:t>
            </a:r>
          </a:p>
          <a:p>
            <a:pPr lvl="1"/>
            <a:r>
              <a:rPr lang="en-US" dirty="0"/>
              <a:t>An isolated, encapsulated user-space instance.</a:t>
            </a:r>
          </a:p>
          <a:p>
            <a:pPr lvl="1"/>
            <a:r>
              <a:rPr lang="en-US" dirty="0"/>
              <a:t>Runs on a shared OS kernel but has its own:</a:t>
            </a:r>
          </a:p>
          <a:p>
            <a:pPr lvl="2"/>
            <a:r>
              <a:rPr lang="en-US" dirty="0"/>
              <a:t>Filesystem</a:t>
            </a:r>
          </a:p>
          <a:p>
            <a:pPr lvl="2"/>
            <a:r>
              <a:rPr lang="en-US" dirty="0"/>
              <a:t>Processes</a:t>
            </a:r>
          </a:p>
          <a:p>
            <a:pPr lvl="2"/>
            <a:r>
              <a:rPr lang="en-US" dirty="0"/>
              <a:t>Network interfaces (can be configured)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D5DC6-FFD2-D6EC-1909-6AD1E2545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422922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97F6-D4A5-B6DB-B987-49E2411F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9A526-E028-87B4-2DDB-F493177B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Containers vs. Virtual Machines (VMs)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107E-CF21-1E9E-4B23-AA6456DD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CB9A40-A1E7-FA8A-ED1C-4726A514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86207"/>
              </p:ext>
            </p:extLst>
          </p:nvPr>
        </p:nvGraphicFramePr>
        <p:xfrm>
          <a:off x="1393051" y="1507369"/>
          <a:ext cx="9405898" cy="4635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45054">
                  <a:extLst>
                    <a:ext uri="{9D8B030D-6E8A-4147-A177-3AD203B41FA5}">
                      <a16:colId xmlns:a16="http://schemas.microsoft.com/office/drawing/2014/main" val="1844046474"/>
                    </a:ext>
                  </a:extLst>
                </a:gridCol>
                <a:gridCol w="3235528">
                  <a:extLst>
                    <a:ext uri="{9D8B030D-6E8A-4147-A177-3AD203B41FA5}">
                      <a16:colId xmlns:a16="http://schemas.microsoft.com/office/drawing/2014/main" val="384893460"/>
                    </a:ext>
                  </a:extLst>
                </a:gridCol>
                <a:gridCol w="3325316">
                  <a:extLst>
                    <a:ext uri="{9D8B030D-6E8A-4147-A177-3AD203B41FA5}">
                      <a16:colId xmlns:a16="http://schemas.microsoft.com/office/drawing/2014/main" val="2502053756"/>
                    </a:ext>
                  </a:extLst>
                </a:gridCol>
              </a:tblGrid>
              <a:tr h="511051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Virtual Machine (VMs)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0264032"/>
                  </a:ext>
                </a:extLst>
              </a:tr>
              <a:tr h="585555">
                <a:tc>
                  <a:txBody>
                    <a:bodyPr/>
                    <a:lstStyle/>
                    <a:p>
                      <a:r>
                        <a:rPr lang="en-US" b="1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Full (hardware/emulated)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Process/user-space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5530054"/>
                  </a:ext>
                </a:extLst>
              </a:tr>
              <a:tr h="511051">
                <a:tc>
                  <a:txBody>
                    <a:bodyPr/>
                    <a:lstStyle/>
                    <a:p>
                      <a:r>
                        <a:rPr lang="en-US" b="1" dirty="0"/>
                        <a:t>Guest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Full OS per VM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Shares host OS kernel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98246660"/>
                  </a:ext>
                </a:extLst>
              </a:tr>
              <a:tr h="585555">
                <a:tc>
                  <a:txBody>
                    <a:bodyPr/>
                    <a:lstStyle/>
                    <a:p>
                      <a:r>
                        <a:rPr lang="en-US" b="1" dirty="0"/>
                        <a:t>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 (minutes)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(seconds)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195067"/>
                  </a:ext>
                </a:extLst>
              </a:tr>
              <a:tr h="585555"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Resource Use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Heavy (more RAM/CPU)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Lightweight (minimal overhead)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9257572"/>
                  </a:ext>
                </a:extLst>
              </a:tr>
              <a:tr h="851744">
                <a:tc>
                  <a:txBody>
                    <a:bodyPr/>
                    <a:lstStyle/>
                    <a:p>
                      <a:r>
                        <a:rPr lang="en-US" b="1" dirty="0"/>
                        <a:t>Portability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Hypervisor-dependent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0">
                        <a:spcAft>
                          <a:spcPts val="105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Build once, run anywhere</a:t>
                      </a:r>
                    </a:p>
                  </a:txBody>
                  <a:tcPr marL="76200" marR="762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4701912"/>
                  </a:ext>
                </a:extLst>
              </a:tr>
              <a:tr h="851744">
                <a:tc>
                  <a:txBody>
                    <a:bodyPr/>
                    <a:lstStyle/>
                    <a:p>
                      <a:r>
                        <a:rPr lang="en-US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Legacy apps, OS-level 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ML, microservices, HPC, CI/CD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75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60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5CF5-3F15-6D6E-E0AA-69B0FF72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F98A-E78D-9123-7D00-30007E1BE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Key Components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62C5688-2A81-4945-DF78-F476DB60D40D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9565640" cy="35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/>
              <a:t>Container Images</a:t>
            </a:r>
          </a:p>
          <a:p>
            <a:pPr lvl="1"/>
            <a:r>
              <a:rPr lang="en-US" dirty="0"/>
              <a:t>Read-only templates used to create containers.</a:t>
            </a:r>
          </a:p>
          <a:p>
            <a:pPr lvl="1"/>
            <a:r>
              <a:rPr lang="en-US" dirty="0"/>
              <a:t>Contain application code, libraries, dependencies, and metadata.</a:t>
            </a:r>
          </a:p>
          <a:p>
            <a:pPr lvl="1"/>
            <a:r>
              <a:rPr lang="en-US" dirty="0"/>
              <a:t>Examples: Docker Hub images, SIF files (Apptainer).</a:t>
            </a:r>
          </a:p>
          <a:p>
            <a:r>
              <a:rPr lang="en-US" sz="3000" b="1" dirty="0"/>
              <a:t>Runtime Environments</a:t>
            </a:r>
          </a:p>
          <a:p>
            <a:pPr lvl="1"/>
            <a:r>
              <a:rPr lang="en-US" dirty="0"/>
              <a:t>Software that runs containers (e.g., Apptainer, Docker).</a:t>
            </a:r>
          </a:p>
          <a:p>
            <a:pPr lvl="1"/>
            <a:r>
              <a:rPr lang="en-US" dirty="0"/>
              <a:t>Manages container lifecycle, isolation, and resource allocation.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E623-A843-C5CE-D6B5-FDFF323E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48791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D3692-5848-E60D-1608-F907CCF4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F36B-37DF-85B3-640C-E2CAEED0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Key Components (cont.)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6676F6-6DA2-A744-5F1B-486D76CE224B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9565640" cy="35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Mount Points for Data (Bind Mounts)</a:t>
            </a:r>
            <a:endParaRPr lang="en-US" dirty="0"/>
          </a:p>
          <a:p>
            <a:pPr lvl="1"/>
            <a:r>
              <a:rPr lang="en-US" dirty="0"/>
              <a:t>Mechanism to make host directories/files accessible inside the container.</a:t>
            </a:r>
          </a:p>
          <a:p>
            <a:pPr lvl="1"/>
            <a:r>
              <a:rPr lang="en-US" dirty="0"/>
              <a:t>Essential for accessing datasets, scripts, and output directories.</a:t>
            </a:r>
          </a:p>
          <a:p>
            <a:r>
              <a:rPr lang="en-US" b="1" dirty="0"/>
              <a:t>Resource Allocation</a:t>
            </a:r>
            <a:endParaRPr lang="en-US" dirty="0"/>
          </a:p>
          <a:p>
            <a:pPr lvl="1"/>
            <a:r>
              <a:rPr lang="en-US" dirty="0"/>
              <a:t>Containers share host resources (CPU, memory, GPUs).</a:t>
            </a:r>
          </a:p>
          <a:p>
            <a:pPr lvl="1"/>
            <a:r>
              <a:rPr lang="en-US" dirty="0"/>
              <a:t>HPC schedulers (like SLURM) manage resource allocation for containerized jobs.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87637-D395-815E-E216-61B43149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2167037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5B84-BD64-3CAC-9EDC-1FD7306D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4DE9-C940-0202-54A7-57B5BC11F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Apptainer (formerly Singularity)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06CE6F-E69D-3D38-FECB-BD96479AEE2B}"/>
              </a:ext>
            </a:extLst>
          </p:cNvPr>
          <p:cNvSpPr txBox="1">
            <a:spLocks/>
          </p:cNvSpPr>
          <p:nvPr/>
        </p:nvSpPr>
        <p:spPr>
          <a:xfrm>
            <a:off x="980440" y="1797925"/>
            <a:ext cx="9565640" cy="35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Apptainer is the direct successor to Singularity.</a:t>
            </a:r>
          </a:p>
          <a:p>
            <a:r>
              <a:rPr lang="en-US" sz="2400" dirty="0"/>
              <a:t>Requires a Linux system</a:t>
            </a:r>
          </a:p>
          <a:p>
            <a:r>
              <a:rPr lang="en-US" sz="2400" dirty="0"/>
              <a:t>Runs without requiring root access</a:t>
            </a:r>
          </a:p>
          <a:p>
            <a:r>
              <a:rPr lang="en-US" sz="2400" dirty="0"/>
              <a:t>Single-file SIF format is easy to transport and share with others</a:t>
            </a:r>
          </a:p>
          <a:p>
            <a:r>
              <a:rPr lang="en-US" sz="2400" dirty="0"/>
              <a:t>Can convert existing Docker images to Apptainer images</a:t>
            </a:r>
          </a:p>
          <a:p>
            <a:r>
              <a:rPr lang="en-US" sz="2400" dirty="0"/>
              <a:t>Apptainer comes pre-installed on all Alpine compute nodes, so no need to load any specific software modules!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73C14-4309-87B5-0867-42F35677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pic>
        <p:nvPicPr>
          <p:cNvPr id="3" name="Picture 2" descr="Apptainer container software logo">
            <a:extLst>
              <a:ext uri="{FF2B5EF4-FFF2-40B4-BE49-F238E27FC236}">
                <a16:creationId xmlns:a16="http://schemas.microsoft.com/office/drawing/2014/main" id="{6B477B34-734C-4630-EB33-0BE060EE9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57" y="4756864"/>
            <a:ext cx="5164698" cy="16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48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40DC-F237-5426-A8E1-C0E672AC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4F0C-5607-3CD3-D525-F9CFA4BC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Apptainer Definition Files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2DDBE74-BDCA-4F6B-BA96-BB58CD9576A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625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kern="1200" dirty="0"/>
              <a:t>A Definition File (or “def file” for short) is a set of blueprints explaining how to build a custom container. </a:t>
            </a:r>
          </a:p>
          <a:p>
            <a:pPr marL="228600" lvl="1">
              <a:spcBef>
                <a:spcPts val="1000"/>
              </a:spcBef>
            </a:pPr>
            <a:r>
              <a:rPr lang="en-US" kern="1200" dirty="0"/>
              <a:t>It includes specifics about the base OS, software to install, environment variables and other metadata.</a:t>
            </a:r>
          </a:p>
          <a:p>
            <a:pPr marL="685800" lvl="2">
              <a:spcBef>
                <a:spcPts val="1000"/>
              </a:spcBef>
            </a:pPr>
            <a:r>
              <a:rPr lang="en-US" kern="1200" dirty="0">
                <a:hlinkClick r:id="rId3"/>
              </a:rPr>
              <a:t>https://apptainer.org/docs/user/</a:t>
            </a:r>
            <a:r>
              <a:rPr lang="en-US" dirty="0">
                <a:hlinkClick r:id="rId3"/>
              </a:rPr>
              <a:t>latest</a:t>
            </a:r>
            <a:r>
              <a:rPr lang="en-US" kern="1200" dirty="0">
                <a:hlinkClick r:id="rId3"/>
              </a:rPr>
              <a:t>/definition_files.html</a:t>
            </a:r>
            <a:r>
              <a:rPr lang="en-US" kern="1200" dirty="0"/>
              <a:t> 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D2F34504-EB92-2BB2-9621-35B92DC3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lang="en-US" dirty="0"/>
              <a:t>9/9/2026</a:t>
            </a:r>
          </a:p>
        </p:txBody>
      </p:sp>
      <p:sp>
        <p:nvSpPr>
          <p:cNvPr id="3" name="TextBox 2" descr="Bootstrap: docker&#10;From: ubuntu:20.04&#10;&#10;%post&#10;    export DEBIAN_FRONTEND=noninteractive&#10;    apt-get update &amp;&amp; apt-get install -y \&#10;        python3 python3-pip python3-dev \&#10;        libtcl8.6 libglu1-mesa libgomp1 \&#10;        libblas3 liblapack3 libgfortran5 \&#10;        wget git&#10;&#10;    # 1. Install OpenSeesPy via pip&#10;    pip3 install openseespy&#10;&#10;    # 2. Add the 'wrapper' for Tcl usage&#10;    echo '#!/usr/bin/python3' &gt; /usr/local/bin/OpenSees&#10;    echo 'import openseespy.opensees as ops; import sys' &gt;&gt; /usr/local/bin/OpenSees&#10;    echo 'if len(sys.argv) &gt; 1: ops.source(sys.argv[1])' &gt;&gt; /usr/local/bin/OpenSees&#10;    chmod +x /usr/local/bin/OpenSees&#10;&#10;%environment&#10;    export LC_ALL=C&#10;    export PATH=/usr/local/bin:$PATH&#10;&#10;%runscript&#10;    exec OpenSees &quot;$@&quot;&#10;">
            <a:extLst>
              <a:ext uri="{FF2B5EF4-FFF2-40B4-BE49-F238E27FC236}">
                <a16:creationId xmlns:a16="http://schemas.microsoft.com/office/drawing/2014/main" id="{1CD42CA3-8A73-4EC6-CD3B-5B0F203A6935}"/>
              </a:ext>
            </a:extLst>
          </p:cNvPr>
          <p:cNvSpPr txBox="1"/>
          <p:nvPr/>
        </p:nvSpPr>
        <p:spPr>
          <a:xfrm>
            <a:off x="6700603" y="1558977"/>
            <a:ext cx="5096656" cy="40934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Bootstrap: docker</a:t>
            </a:r>
          </a:p>
          <a:p>
            <a:r>
              <a:rPr lang="en-US" sz="1000" dirty="0"/>
              <a:t>From: ubuntu:20.04</a:t>
            </a:r>
          </a:p>
          <a:p>
            <a:endParaRPr lang="en-US" sz="1000" dirty="0"/>
          </a:p>
          <a:p>
            <a:r>
              <a:rPr lang="en-US" sz="1000" dirty="0"/>
              <a:t>%post</a:t>
            </a:r>
          </a:p>
          <a:p>
            <a:r>
              <a:rPr lang="en-US" sz="1000" dirty="0"/>
              <a:t>    export DEBIAN_FRONTEND=noninteractive</a:t>
            </a:r>
          </a:p>
          <a:p>
            <a:r>
              <a:rPr lang="en-US" sz="1000" dirty="0"/>
              <a:t>    apt-get update &amp;&amp; apt-get install -y \</a:t>
            </a:r>
          </a:p>
          <a:p>
            <a:r>
              <a:rPr lang="en-US" sz="1000" dirty="0"/>
              <a:t>        python3 python3-pip python3-dev \</a:t>
            </a:r>
          </a:p>
          <a:p>
            <a:r>
              <a:rPr lang="en-US" sz="1000" dirty="0"/>
              <a:t>        libtcl8.6 libglu1-mesa libgomp1 \</a:t>
            </a:r>
          </a:p>
          <a:p>
            <a:r>
              <a:rPr lang="en-US" sz="1000" dirty="0"/>
              <a:t>        libblas3 liblapack3 libgfortran5 \</a:t>
            </a:r>
          </a:p>
          <a:p>
            <a:r>
              <a:rPr lang="en-US" sz="1000" dirty="0"/>
              <a:t>        wget git</a:t>
            </a:r>
          </a:p>
          <a:p>
            <a:endParaRPr lang="en-US" sz="1000" dirty="0"/>
          </a:p>
          <a:p>
            <a:r>
              <a:rPr lang="en-US" sz="1000" dirty="0"/>
              <a:t>    # 1. Install OpenSeesPy via pip</a:t>
            </a:r>
          </a:p>
          <a:p>
            <a:r>
              <a:rPr lang="en-US" sz="1000" dirty="0"/>
              <a:t>    pip3 install openseespy</a:t>
            </a:r>
          </a:p>
          <a:p>
            <a:endParaRPr lang="en-US" sz="1000" dirty="0"/>
          </a:p>
          <a:p>
            <a:r>
              <a:rPr lang="en-US" sz="1000" dirty="0"/>
              <a:t>    # 2. Add the 'wrapper' for Tcl usage</a:t>
            </a:r>
          </a:p>
          <a:p>
            <a:r>
              <a:rPr lang="en-US" sz="1000" dirty="0"/>
              <a:t>    echo '#!/usr/bin/python3' &gt; /usr/local/bin/OpenSees</a:t>
            </a:r>
          </a:p>
          <a:p>
            <a:r>
              <a:rPr lang="en-US" sz="1000" dirty="0"/>
              <a:t>    echo 'import openseespy.opensees as ops; import sys' &gt;&gt; /usr/local/bin/OpenSees</a:t>
            </a:r>
          </a:p>
          <a:p>
            <a:r>
              <a:rPr lang="en-US" sz="1000" dirty="0"/>
              <a:t>    echo 'if len(sys.argv) &gt; 1: ops.source(sys.argv[1])' &gt;&gt; /usr/local/bin/OpenSees</a:t>
            </a:r>
          </a:p>
          <a:p>
            <a:r>
              <a:rPr lang="en-US" sz="1000" dirty="0"/>
              <a:t>    chmod +x /usr/local/bin/OpenSees</a:t>
            </a:r>
          </a:p>
          <a:p>
            <a:endParaRPr lang="en-US" sz="1000" dirty="0"/>
          </a:p>
          <a:p>
            <a:r>
              <a:rPr lang="en-US" sz="1000" dirty="0"/>
              <a:t>%environment</a:t>
            </a:r>
          </a:p>
          <a:p>
            <a:r>
              <a:rPr lang="en-US" sz="1000" dirty="0"/>
              <a:t>    export LC_ALL=C</a:t>
            </a:r>
          </a:p>
          <a:p>
            <a:r>
              <a:rPr lang="en-US" sz="1000" dirty="0"/>
              <a:t>    export PATH=/usr/local/bin:$PATH</a:t>
            </a:r>
          </a:p>
          <a:p>
            <a:endParaRPr lang="en-US" sz="1000" dirty="0"/>
          </a:p>
          <a:p>
            <a:r>
              <a:rPr lang="en-US" sz="1000" dirty="0"/>
              <a:t>%runscript</a:t>
            </a:r>
          </a:p>
          <a:p>
            <a:r>
              <a:rPr lang="en-US" sz="1000" dirty="0"/>
              <a:t>    exec OpenSees "$@"</a:t>
            </a:r>
          </a:p>
        </p:txBody>
      </p:sp>
    </p:spTree>
    <p:extLst>
      <p:ext uri="{BB962C8B-B14F-4D97-AF65-F5344CB8AC3E}">
        <p14:creationId xmlns:p14="http://schemas.microsoft.com/office/powerpoint/2010/main" val="298867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8035-2970-2708-0077-9B282F8B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D6C8-3557-9499-8DD7-BB1D510A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Working with Apptainer on CURC</a:t>
            </a:r>
            <a:endParaRPr lang="en-US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5E2802-B976-096D-E19B-06843DBA0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4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Helvetica Neue" panose="02000503000000020004"/>
              </a:rPr>
              <a:t>View list of Apptainer commands.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2D280D-40A1-A44F-093E-FE8E76DD1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2317851"/>
            <a:ext cx="11052246" cy="496469"/>
            <a:chOff x="569877" y="3840966"/>
            <a:chExt cx="11052246" cy="1227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57C206-807E-C04E-DE05-06562736D288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ntent Placeholder 2" descr="$ apptainer --help        &#10;">
              <a:extLst>
                <a:ext uri="{FF2B5EF4-FFF2-40B4-BE49-F238E27FC236}">
                  <a16:creationId xmlns:a16="http://schemas.microsoft.com/office/drawing/2014/main" id="{2AB06B96-DA3C-AE83-3215-254086768EE3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21"/>
              <a:ext cx="10634272" cy="11081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--help        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8DACAB6-0FE6-7FF8-2937-5F9DA06AA69C}"/>
              </a:ext>
            </a:extLst>
          </p:cNvPr>
          <p:cNvSpPr txBox="1">
            <a:spLocks/>
          </p:cNvSpPr>
          <p:nvPr/>
        </p:nvSpPr>
        <p:spPr>
          <a:xfrm>
            <a:off x="838200" y="2872105"/>
            <a:ext cx="10515600" cy="49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/>
              </a:rPr>
              <a:t>Look at CURC's collection of pre-built containers.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D0B018-25BA-D486-EB91-C202CBA4C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3415131"/>
            <a:ext cx="11052246" cy="872389"/>
            <a:chOff x="569877" y="3840966"/>
            <a:chExt cx="11052246" cy="12274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E3A01E-2BDD-72DD-1B35-4632883CAE0D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ntent Placeholder 2" descr="$ echo $CURC_CONTAINER_DIR&#10;$ ls $CURC_CONTAINER_DIR&#10;">
              <a:extLst>
                <a:ext uri="{FF2B5EF4-FFF2-40B4-BE49-F238E27FC236}">
                  <a16:creationId xmlns:a16="http://schemas.microsoft.com/office/drawing/2014/main" id="{44C0C978-2374-833E-53C3-F3DAB571ABA9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18"/>
              <a:ext cx="10634272" cy="11476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echo $CURC_CONTAINER_DIR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ls $CURC_CONTAINER_DIR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5BB5B2-F46B-E4E2-A2FB-E57CAD604FAA}"/>
              </a:ext>
            </a:extLst>
          </p:cNvPr>
          <p:cNvSpPr txBox="1">
            <a:spLocks/>
          </p:cNvSpPr>
          <p:nvPr/>
        </p:nvSpPr>
        <p:spPr>
          <a:xfrm>
            <a:off x="827182" y="4491708"/>
            <a:ext cx="11364817" cy="844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/>
              </a:rPr>
              <a:t>By default, the cache directory for Apptainer builds is </a:t>
            </a:r>
            <a:r>
              <a:rPr lang="en-US" sz="2400" b="1" dirty="0">
                <a:latin typeface="Helvetica Neue" panose="02000503000000020004"/>
              </a:rPr>
              <a:t>/scratch/alpine/$USER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B4EB65-2243-09EE-864C-335185272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5045962"/>
            <a:ext cx="11052246" cy="496469"/>
            <a:chOff x="569877" y="3840966"/>
            <a:chExt cx="11052246" cy="1227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55163F-E8FA-3EE4-4C98-FF88000E98E1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ntent Placeholder 2" descr="$ echo $APPTAINER_CACHEDIR        &#10;">
              <a:extLst>
                <a:ext uri="{FF2B5EF4-FFF2-40B4-BE49-F238E27FC236}">
                  <a16:creationId xmlns:a16="http://schemas.microsoft.com/office/drawing/2014/main" id="{B4C0B8A5-23C4-3BD5-7E95-956C59B555A8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21"/>
              <a:ext cx="10634272" cy="114764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echo $APPTAINER_CACHEDIR        </a:t>
              </a:r>
            </a:p>
          </p:txBody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4B256BA-505D-25F7-CD71-D3B336DD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C6BDC6F-D77D-CFBF-9901-0431F2DE5731}"/>
              </a:ext>
            </a:extLst>
          </p:cNvPr>
          <p:cNvSpPr txBox="1">
            <a:spLocks/>
          </p:cNvSpPr>
          <p:nvPr/>
        </p:nvSpPr>
        <p:spPr>
          <a:xfrm>
            <a:off x="987851" y="5574691"/>
            <a:ext cx="10634272" cy="422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latin typeface="Helvetica Neue" panose="02000503000000020004"/>
              </a:rPr>
              <a:t>Pro Tip: change </a:t>
            </a:r>
            <a:r>
              <a:rPr lang="en-US" sz="1600" i="1" dirty="0">
                <a:solidFill>
                  <a:schemeClr val="accent1"/>
                </a:solidFill>
                <a:latin typeface="Helvetica Neue" panose="02000503000000020004"/>
              </a:rPr>
              <a:t>APPTAINER_CACHEDIR </a:t>
            </a:r>
            <a:r>
              <a:rPr lang="en-US" sz="1600" i="1" dirty="0">
                <a:latin typeface="Helvetica Neue" panose="02000503000000020004"/>
              </a:rPr>
              <a:t>and </a:t>
            </a:r>
            <a:r>
              <a:rPr lang="en-US" sz="1600" i="1" dirty="0">
                <a:solidFill>
                  <a:schemeClr val="accent1"/>
                </a:solidFill>
                <a:latin typeface="Helvetica Neue" panose="02000503000000020004"/>
              </a:rPr>
              <a:t>APPTAINDER_TMPDIR </a:t>
            </a:r>
            <a:r>
              <a:rPr lang="en-US" sz="1600" i="1" dirty="0">
                <a:latin typeface="Helvetica Neue" panose="02000503000000020004"/>
              </a:rPr>
              <a:t>to </a:t>
            </a:r>
            <a:r>
              <a:rPr lang="en-US" sz="1600" b="1" i="1" dirty="0">
                <a:latin typeface="Helvetica Neue" panose="02000503000000020004"/>
              </a:rPr>
              <a:t>$SLURM_SCRATCH </a:t>
            </a:r>
            <a:r>
              <a:rPr lang="en-US" sz="1600" i="1" dirty="0">
                <a:latin typeface="Helvetica Neue" panose="02000503000000020004"/>
              </a:rPr>
              <a:t>for faster builds</a:t>
            </a:r>
            <a:r>
              <a:rPr lang="en-US" sz="1600" dirty="0">
                <a:latin typeface="Helvetica Neue" panose="0200050300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453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459C-8651-3477-633C-2652DE4C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3A6E-A019-BC8F-9BC0-AAEAA9F9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Working with Apptainer on CURC</a:t>
            </a:r>
            <a:endParaRPr lang="en-US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0C1DCA-A06D-A226-9FB9-4F7F5EBA91AD}"/>
              </a:ext>
            </a:extLst>
          </p:cNvPr>
          <p:cNvSpPr txBox="1">
            <a:spLocks/>
          </p:cNvSpPr>
          <p:nvPr/>
        </p:nvSpPr>
        <p:spPr>
          <a:xfrm>
            <a:off x="772098" y="1869567"/>
            <a:ext cx="10515600" cy="192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/>
              </a:rPr>
              <a:t>On CURC systems, a running container automatically bind mounts these paths: /home/$USER, $PWD. </a:t>
            </a:r>
          </a:p>
          <a:p>
            <a:r>
              <a:rPr lang="en-US" sz="2400" dirty="0">
                <a:latin typeface="Helvetica Neue" panose="02000503000000020004"/>
              </a:rPr>
              <a:t>To bind any additional folders/files to your container, use the -B flag in your apptainer run, exec, and shell commands: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EED090-8524-3C14-89E5-279A16693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3901798"/>
            <a:ext cx="11052246" cy="1497305"/>
            <a:chOff x="569877" y="3840966"/>
            <a:chExt cx="11052246" cy="12274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CDA95D-455F-0A92-5338-0CA3514B7D09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ntent Placeholder 2" descr="$ apptainer run -B /source/directory:/target/directory sample-image.sif&#10;$ apptainer run -B /projects/$USER,/pl/active,/scratch/alpine/$USER sample-image.sif&#10;">
              <a:extLst>
                <a:ext uri="{FF2B5EF4-FFF2-40B4-BE49-F238E27FC236}">
                  <a16:creationId xmlns:a16="http://schemas.microsoft.com/office/drawing/2014/main" id="{41C44129-EE3E-38F8-51DF-63C6F5DD73E8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19"/>
              <a:ext cx="10634272" cy="114764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run -B /source/directory:/target/directory sample-image.sif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run -B /projects/$USER,/pl/active,/scratch/alpine/$USER sample-image.sif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2220F-8511-26FF-48D0-70F8ED33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257983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F519-AE7F-36C9-168F-1F04A49B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Useful</a:t>
            </a:r>
            <a:r>
              <a:rPr lang="en-US" b="1" dirty="0"/>
              <a:t> Commands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8E8B5FC-8651-0D47-A1AA-44F2FEF1E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2033734"/>
            <a:ext cx="11052246" cy="2955189"/>
            <a:chOff x="569877" y="3840966"/>
            <a:chExt cx="11052246" cy="1227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A1AD42-7ABE-1FF8-A9DB-C83DCB936938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ntent Placeholder 2" descr="apptainer inspect  #See labels/environment vars, run scripts&#10;apptainer pull   #pull an image from hub&#10;apptainer exec   #Execute a command to your container&#10;apptainer run   #Run your image as an executable&#10;apptainer build   #Build a container&#10;apptainer shell   #Access the command line of your container&#10;">
              <a:extLst>
                <a:ext uri="{FF2B5EF4-FFF2-40B4-BE49-F238E27FC236}">
                  <a16:creationId xmlns:a16="http://schemas.microsoft.com/office/drawing/2014/main" id="{87C36984-4B7A-183D-3345-EEF84D7B8557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19"/>
              <a:ext cx="10634272" cy="10110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inspect 	#See labels/environment vars, run scripts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pull 		#pull an image from hub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exec 		#Execute a command to your container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run 		#Run your image as an executable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build 		#Build a container</a:t>
              </a:r>
            </a:p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shell 		#Access the command line of your container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6D77-B1E7-D2A3-E6C7-7F9A4E9B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3426185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BB8F-EB56-6197-333C-D59631B9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102A-6ED4-2914-4E01-ED459668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06" y="500755"/>
            <a:ext cx="10692788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Using images from a pre-built container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D8AB62-27E8-5061-B8A5-B925FFA9C2A2}"/>
              </a:ext>
            </a:extLst>
          </p:cNvPr>
          <p:cNvSpPr txBox="1">
            <a:spLocks/>
          </p:cNvSpPr>
          <p:nvPr/>
        </p:nvSpPr>
        <p:spPr>
          <a:xfrm>
            <a:off x="1038595" y="1854384"/>
            <a:ext cx="9565640" cy="35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You can fetch container images from container registries such as:</a:t>
            </a:r>
          </a:p>
          <a:p>
            <a:pPr lvl="1"/>
            <a:r>
              <a:rPr lang="en-US" dirty="0">
                <a:hlinkClick r:id="rId3"/>
              </a:rPr>
              <a:t>Docker Hub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NVIDIA NGC Catalog</a:t>
            </a:r>
            <a:endParaRPr lang="en-US" dirty="0"/>
          </a:p>
          <a:p>
            <a:pPr lvl="1"/>
            <a:endParaRPr lang="en-US" dirty="0"/>
          </a:p>
          <a:p>
            <a:r>
              <a:rPr lang="en-US" sz="2400" dirty="0"/>
              <a:t>Let’s walk through an example of using pre-built Tensorflow container to train a classification model….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sz="2400" dirty="0"/>
              <a:t>Start an interactive testing job on a GPU node: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6E288-9AD6-ECD9-591E-807596C8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sp>
        <p:nvSpPr>
          <p:cNvPr id="3" name="Content Placeholder 2" descr="$ sinteractive --partition=aa100 --qos=gpu-testing --nodes=1 --ntasks=4 --time=1:00:00 --gres=gpu:a100_3g.20gb:1&#10;">
            <a:extLst>
              <a:ext uri="{FF2B5EF4-FFF2-40B4-BE49-F238E27FC236}">
                <a16:creationId xmlns:a16="http://schemas.microsoft.com/office/drawing/2014/main" id="{FB1739BE-3461-75D4-C030-2DF6971EC3B6}"/>
              </a:ext>
            </a:extLst>
          </p:cNvPr>
          <p:cNvSpPr txBox="1">
            <a:spLocks/>
          </p:cNvSpPr>
          <p:nvPr/>
        </p:nvSpPr>
        <p:spPr>
          <a:xfrm>
            <a:off x="1298190" y="5017839"/>
            <a:ext cx="8520368" cy="765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sinteractive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--partition=aa100 --qos=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-testing --nodes=1 --ntasks=4 --time=1:00:00 --gres=gpu:a100_3g.20gb:1</a:t>
            </a:r>
          </a:p>
        </p:txBody>
      </p:sp>
    </p:spTree>
    <p:extLst>
      <p:ext uri="{BB962C8B-B14F-4D97-AF65-F5344CB8AC3E}">
        <p14:creationId xmlns:p14="http://schemas.microsoft.com/office/powerpoint/2010/main" val="1850172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793A-7213-FA2B-0167-34568BB3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0AC0-9265-5FD8-5A0B-A39044BE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Getting Started with TensorFlow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9718-B9A5-5013-82FF-4F6DB59F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FB13BC-C991-3835-5C43-0285FF9F2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1800" y="1410122"/>
            <a:ext cx="11760200" cy="4726518"/>
            <a:chOff x="191925" y="4181154"/>
            <a:chExt cx="11093212" cy="15504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AF3B1A-22B6-993D-EA1A-05BB40BDC922}"/>
                </a:ext>
              </a:extLst>
            </p:cNvPr>
            <p:cNvSpPr/>
            <p:nvPr/>
          </p:nvSpPr>
          <p:spPr>
            <a:xfrm>
              <a:off x="191925" y="4252715"/>
              <a:ext cx="10796115" cy="14222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 &#10;# Export paths&#10;$ export IMAGES=/projects/$USER/containers/&#10;$ export WORKDIR=/projects/$USER/containers/ml_work&#10;$ mkdir -p $IMAGES $WORKDIR &amp;&amp; cd $WORKDIR&#10;&#10;# Pull TensorFlow container (GPU version)&#10;$ export APPTAINER_IGNORE_PROOT=1 # temporary workaround for bug&#10;$ apptainer pull $IMAGES/tensorflow-2.15.0-cuda12.8.sif docker://tensorflow/tensorflow:2.15.0-gpu&#10;&#10;# Inspect container metadata&#10;$ apptainer inspect $IMAGES/tensorflow-2.15.0-cuda12.8.sif&#10;">
              <a:extLst>
                <a:ext uri="{FF2B5EF4-FFF2-40B4-BE49-F238E27FC236}">
                  <a16:creationId xmlns:a16="http://schemas.microsoft.com/office/drawing/2014/main" id="{B1520D27-4573-5FD8-DBE9-4BB80A55FE15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181154"/>
              <a:ext cx="10931369" cy="155047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Monaco" pitchFamily="2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	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Export paths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IMAGES=/projects/$USER/containers/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WORKDIR=/projects/$USER/containers/ml_work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mkdir -p $IMAGES $WORKDIR &amp;&amp; cd $WORKDIR</a:t>
              </a: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Pull TensorFlow container (GPU version)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APPTAINER_IGNORE_PROOT=1 # temporary workaround for bug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pull $IMAGES/tensorflow-2.15.0-cuda12.8.sif docker://tensorflow/tensorflow:2.15.0-gpu</a:t>
              </a:r>
            </a:p>
            <a:p>
              <a:pPr marL="0" indent="0">
                <a:buNone/>
              </a:pP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Inspect container metadata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inspect $IMAGES/tensorflow-2.15.0-cuda12.8.sif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46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D0CD-5329-E9D9-A97E-E9D0ACAE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F063-1327-4091-011D-D671B2C0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Binding Paths &amp; Running TF Script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B24E881-18E5-023D-D6A5-554FA15A2DC8}"/>
              </a:ext>
            </a:extLst>
          </p:cNvPr>
          <p:cNvSpPr txBox="1">
            <a:spLocks/>
          </p:cNvSpPr>
          <p:nvPr/>
        </p:nvSpPr>
        <p:spPr>
          <a:xfrm>
            <a:off x="980440" y="1523605"/>
            <a:ext cx="10825480" cy="35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Bind mount your script directory.</a:t>
            </a:r>
          </a:p>
          <a:p>
            <a:r>
              <a:rPr lang="en-US" sz="2400" dirty="0"/>
              <a:t>Create minst_tf.py that builds and trains a simple image classification model</a:t>
            </a:r>
          </a:p>
          <a:p>
            <a:r>
              <a:rPr lang="en-US" sz="2400" dirty="0"/>
              <a:t>--nv: Enables NVIDIA GPU access.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534BE-3011-8028-D14A-D117A3B8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45A653-0F52-9FA9-ED59-43BCD513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1800" y="2771562"/>
            <a:ext cx="11445240" cy="3121238"/>
            <a:chOff x="191925" y="4181154"/>
            <a:chExt cx="10796115" cy="102388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AB6AAA-EA79-5B86-B6EA-2567C1C61C20}"/>
                </a:ext>
              </a:extLst>
            </p:cNvPr>
            <p:cNvSpPr/>
            <p:nvPr/>
          </p:nvSpPr>
          <p:spPr>
            <a:xfrm>
              <a:off x="191925" y="4252715"/>
              <a:ext cx="10796115" cy="95232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 &#10;# Bind paths&#10;$ apptainer exec -B $WORKDIR:/work,$IMAGES:/images $IMAGES/tensorflow-2.15.0-cuda12.8.sif ls /work&#10;&#10;# Run the script&#10;$ apptainer exec --nv -B $WORKDIR:/work $IMAGES/tensorflow-2.15.0-cuda12.8.sif python3 $WORKDIR/mnist_tf.py&#10;">
              <a:extLst>
                <a:ext uri="{FF2B5EF4-FFF2-40B4-BE49-F238E27FC236}">
                  <a16:creationId xmlns:a16="http://schemas.microsoft.com/office/drawing/2014/main" id="{87A0D724-DAE6-DC11-CF81-51905EE3CCEF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181154"/>
              <a:ext cx="10353758" cy="99356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Monaco" pitchFamily="2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	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Bind paths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exec -B $WORKDIR:/work,$IMAGES:/images $IMAGES/tensorflow-2.15.0-cuda12.8.sif ls /work</a:t>
              </a: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Run the script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exec --nv -B $WORKDIR:/work $IMAGES/tensorflow-2.15.0-cuda12.8.sif python3 $WORKDIR/mnist_tf.py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53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E478-D0C4-7C21-0719-81140E7E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582C3-424D-8D92-DDEA-EB64C7CF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7B4390-373E-1ED3-5725-F1B011BF6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6960" y="1432561"/>
            <a:ext cx="10276840" cy="3877176"/>
            <a:chOff x="191925" y="4252715"/>
            <a:chExt cx="11093212" cy="9881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FC7960-F907-4F8C-8DF2-1CBF85DABA3F}"/>
                </a:ext>
              </a:extLst>
            </p:cNvPr>
            <p:cNvSpPr/>
            <p:nvPr/>
          </p:nvSpPr>
          <p:spPr>
            <a:xfrm>
              <a:off x="191925" y="4252715"/>
              <a:ext cx="10796115" cy="94535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import tensorflow as tf&#10;mnist = tf.keras.datasets.mnist&#10;(x_train, y_train), _ = mnist.load_data()&#10;x_train = x_train / 255.0&#10;model = tf.keras.models.Sequential([&#10;    tf.keras.layers.Flatten(input_shape=(28,28)),&#10;    tf.keras.layers.Dense(128, activation='relu'),&#10;    tf.keras.layers.Dropout(0.2),&#10;    tf.keras.layers.Dense(10, activation='softmax')&#10;])&#10;model.compile(optimizer='adam', loss='sparse_categorical_crossentropy', metrics=['accuracy'])&#10;model.fit(x_train, y_train, epochs=1)&#10;print(&quot;Done training.&quot;)&#10;">
              <a:extLst>
                <a:ext uri="{FF2B5EF4-FFF2-40B4-BE49-F238E27FC236}">
                  <a16:creationId xmlns:a16="http://schemas.microsoft.com/office/drawing/2014/main" id="{6BDB901E-2484-7E00-4725-1AB6610E2DF1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252715"/>
              <a:ext cx="10931369" cy="9881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import tensorflow as tf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mnist = tf.keras.datasets.mnist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(x_train, y_train), _ = mnist.load_data()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x_train = x_train / 255.0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model = tf.keras.models.Sequential([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tf.keras.layers.Flatten(input_shape=(28,28)),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tf.keras.layers.Dense(128, activation='relu'),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tf.keras.layers.Dropout(0.2),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tf.keras.layers.Dense(10, activation='softmax')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])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model.compile(optimizer='adam', loss='sparse_categorical_crossentropy', metrics=['accuracy'])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model.fit(x_train, y_train, epochs=1)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print("Done training.")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5338D379-D1A2-7ECF-FDF3-1DF1DE68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0" y="550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Sample TensorFlow Script: </a:t>
            </a:r>
            <a:r>
              <a:rPr lang="en-U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mnist_tf.py</a:t>
            </a:r>
          </a:p>
        </p:txBody>
      </p:sp>
    </p:spTree>
    <p:extLst>
      <p:ext uri="{BB962C8B-B14F-4D97-AF65-F5344CB8AC3E}">
        <p14:creationId xmlns:p14="http://schemas.microsoft.com/office/powerpoint/2010/main" val="178131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D055-757A-0ED5-7030-2246D590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FC7A-5C04-4DE3-EBFE-70D2FB32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Access container interactively</a:t>
            </a:r>
            <a:endParaRPr lang="en-US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F78144-C787-AC03-7A44-25FD7C71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438"/>
            <a:ext cx="10515600" cy="4964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Helvetica Neue" panose="02000503000000020004"/>
              </a:rPr>
              <a:t>Shell into 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6056C2-530D-5854-0A3A-518AC885A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2196664"/>
            <a:ext cx="11052246" cy="496469"/>
            <a:chOff x="569877" y="3840966"/>
            <a:chExt cx="11052246" cy="1227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AA1C10-F715-03B8-5F4A-7147DA97ECBB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ntent Placeholder 2" descr="$ apptainer shell --nv $IMAGES/tensorflow-2.15.0-cuda12.8.sif        &#10;">
              <a:extLst>
                <a:ext uri="{FF2B5EF4-FFF2-40B4-BE49-F238E27FC236}">
                  <a16:creationId xmlns:a16="http://schemas.microsoft.com/office/drawing/2014/main" id="{84CA8EEF-3CF4-E908-6324-14C60DA2B820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4035647"/>
              <a:ext cx="10634272" cy="20013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shell --nv $IMAGES/tensorflow-2.15.0-cuda12.8.sif        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107FD7-A3FB-96B7-6E8D-5FFA97469AD5}"/>
              </a:ext>
            </a:extLst>
          </p:cNvPr>
          <p:cNvSpPr txBox="1">
            <a:spLocks/>
          </p:cNvSpPr>
          <p:nvPr/>
        </p:nvSpPr>
        <p:spPr>
          <a:xfrm>
            <a:off x="838200" y="2750918"/>
            <a:ext cx="10515600" cy="49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/>
              </a:rPr>
              <a:t>Then run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5965AF-CBAA-8F28-0CE3-928D623BA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877" y="3293944"/>
            <a:ext cx="11052246" cy="1256021"/>
            <a:chOff x="569877" y="3840966"/>
            <a:chExt cx="11052246" cy="12274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B0C217-9BDE-3E43-EC58-8AFD482B408C}"/>
                </a:ext>
              </a:extLst>
            </p:cNvPr>
            <p:cNvSpPr/>
            <p:nvPr/>
          </p:nvSpPr>
          <p:spPr>
            <a:xfrm>
              <a:off x="569877" y="3840966"/>
              <a:ext cx="11052246" cy="12274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ntent Placeholder 2" descr="$ python3&#10;&gt;&gt;&gt; import tensorflow as tf&#10;&gt;&gt;&gt; tf.__version__&#10;&gt;&gt;&gt; tf.config.list_physical_devices('GPU')&#10;">
              <a:extLst>
                <a:ext uri="{FF2B5EF4-FFF2-40B4-BE49-F238E27FC236}">
                  <a16:creationId xmlns:a16="http://schemas.microsoft.com/office/drawing/2014/main" id="{9D4E3C6E-EEAE-D861-F173-061F02CBCB69}"/>
                </a:ext>
              </a:extLst>
            </p:cNvPr>
            <p:cNvSpPr txBox="1">
              <a:spLocks/>
            </p:cNvSpPr>
            <p:nvPr/>
          </p:nvSpPr>
          <p:spPr>
            <a:xfrm>
              <a:off x="719528" y="3920719"/>
              <a:ext cx="10634272" cy="20013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python3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 import tensorflow as tf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 tf.__version__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 tf.config.list_physical_devices('GPU')</a:t>
              </a: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6EF614C-4DC5-B635-2EF7-524E302BACBD}"/>
              </a:ext>
            </a:extLst>
          </p:cNvPr>
          <p:cNvSpPr txBox="1">
            <a:spLocks/>
          </p:cNvSpPr>
          <p:nvPr/>
        </p:nvSpPr>
        <p:spPr>
          <a:xfrm>
            <a:off x="838200" y="4815959"/>
            <a:ext cx="10515600" cy="1384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Helvetica Neue" panose="02000503000000020004"/>
              </a:rPr>
              <a:t>If it returns a list (e.g. [PhysicalDevice(name='/physical_device:GPU:0', ...)]), then TensorFlow successfully detected the GPU inside the container!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2AC04-616A-1E6B-14C0-DDB5DA85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3902825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58E38-91C1-9695-024F-F6F942DB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479AD-7B3D-1C53-041E-E960A01E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014786-E6F9-69A6-747A-317788422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7080" y="1053336"/>
            <a:ext cx="11165840" cy="5110480"/>
            <a:chOff x="191925" y="4252715"/>
            <a:chExt cx="11268872" cy="111867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74E481-2165-64B0-6234-E878AFC43194}"/>
                </a:ext>
              </a:extLst>
            </p:cNvPr>
            <p:cNvSpPr/>
            <p:nvPr/>
          </p:nvSpPr>
          <p:spPr>
            <a:xfrm>
              <a:off x="191925" y="4252715"/>
              <a:ext cx="10796115" cy="111867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&#10;#!/bin/bash&#10;#SBATCH --gres=gpu:a100_3g.20gb:1&#10;#SBATCH --partition=aa100&#10;#SBATCH --ntasks=4 &#10;#SBATCH --nodes=1&#10;#SBATCH --qos=gpu-testing&#10;#SBATCH --time=1:00:00&#10;#SBATCH --job-name=tf-classify&#10;#SBATCH --output=tf-classify.%j.out&#10;#SBATCH --mail-type=ALL&#10;#SBATCH --mail-user=&lt;your email&gt;&#10;&#10;export IMAGES=/projects/$USER/containers/sif&#10;export WORKDIR=/projects/$USER/containers/ml_work&#10;cd $WORKDIR&#10;&#10;apptainer exec --nv -B $WORKDIR:/work $IMAGES/tensorflow-2.15.0-cuda12.8.sif python3 $WORKDIR/mnist_tf.py&#10;">
              <a:extLst>
                <a:ext uri="{FF2B5EF4-FFF2-40B4-BE49-F238E27FC236}">
                  <a16:creationId xmlns:a16="http://schemas.microsoft.com/office/drawing/2014/main" id="{D808290F-0119-9756-EA8F-362A356B22BD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252715"/>
              <a:ext cx="11107029" cy="9881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endParaRPr lang="en-US" sz="1800" dirty="0">
                <a:latin typeface="Monaco" pitchFamily="2" charset="77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#!/bin/bash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--gres=gpu:a100_3g.20gb:1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--partition=aa100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--ntasks=4 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--nodes=1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--qos=</a:t>
              </a:r>
              <a:r>
                <a:rPr lang="en-US" sz="18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gpu</a:t>
              </a: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-testing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--time=1:00:00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--job-name=tf-classify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--output=</a:t>
              </a:r>
              <a:r>
                <a:rPr lang="en-US" sz="18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tf-classify.%j.out</a:t>
              </a: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--mail-type=ALL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--mail-user=&lt;your email&gt;</a:t>
              </a:r>
            </a:p>
            <a:p>
              <a:pPr marL="0" indent="0">
                <a:buNone/>
              </a:pP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IMAGES=/projects/$USER/containers/sif</a:t>
              </a: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WORKDIR=/projects/$USER/containers/ml_work</a:t>
              </a: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cd $WORKDIR</a:t>
              </a:r>
            </a:p>
            <a:p>
              <a:pPr marL="0" indent="0">
                <a:spcBef>
                  <a:spcPts val="0"/>
                </a:spcBef>
                <a:buNone/>
              </a:pP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apptainer exec --nv -B $WORKDIR:/work $IMAGES/tensorflow-2.15.0-cuda12.8.sif python3 $WORKDIR/mnist_tf.py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F86D73B7-1280-C73D-4FEE-496C8C2E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0" y="-33051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SLURM Integration: </a:t>
            </a:r>
            <a:r>
              <a:rPr lang="en-U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run_mnist_tf.sh</a:t>
            </a:r>
            <a:endParaRPr lang="en-U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44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DF5A4-7AC6-1C36-4047-D3957F18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DBF6-5945-CCFB-FACC-59CE35AF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Getting Started with PyTorch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DB9C7-B82A-4D88-4FDA-A1E0C5BDF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00339F-5883-A0B4-30B9-2D802ED7C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1800" y="1124662"/>
            <a:ext cx="11760200" cy="5408853"/>
            <a:chOff x="191925" y="4153817"/>
            <a:chExt cx="11093212" cy="16271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99DEB3-765B-DC8C-1DBA-B2EA4F42810F}"/>
                </a:ext>
              </a:extLst>
            </p:cNvPr>
            <p:cNvSpPr/>
            <p:nvPr/>
          </p:nvSpPr>
          <p:spPr>
            <a:xfrm>
              <a:off x="191925" y="4252715"/>
              <a:ext cx="10796115" cy="14222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 &#10;# Start an interactive job on a GPU testing node&#10;$ sinteractive --partition=aa100 --qos=gpu-testing --nodes=1 --ntasks=4 --time=1:00:00 --gres=gpu:a100_3g.20gb:1&#10;&#10;# Export paths&#10;$ export IMAGES=/projects/$USER/containers/&#10;$ export WORKDIR=/projects/$USER/containers/ml_work&#10;$ mkdir -p $IMAGES $WORKDIR &amp;&amp; cd $WORKDIR&#10;&#10;# Pull TensorFlow container (GPU version)&#10;$ export APPTAINER_IGNORE_PROOT=1 # temporary workaround for bug&#10;$ apptainer pull $IMAGES/pytorch-2.9.0-cuda12.8.sif docker://pytorch/pytorch:2.9.0-cuda12.8-cudnn9-runtime&#10;">
              <a:extLst>
                <a:ext uri="{FF2B5EF4-FFF2-40B4-BE49-F238E27FC236}">
                  <a16:creationId xmlns:a16="http://schemas.microsoft.com/office/drawing/2014/main" id="{EB0F709E-9F14-CCC9-4E9D-2BA864FE63E6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153817"/>
              <a:ext cx="10931369" cy="162719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latin typeface="Monaco" pitchFamily="2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	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Start an interactive job on a GPU testing node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</a:t>
              </a:r>
              <a:r>
                <a:rPr lang="en-US" sz="18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sinteractive</a:t>
              </a: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--partition=aa100 --qos=</a:t>
              </a:r>
              <a:r>
                <a:rPr lang="en-US" sz="18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gpu</a:t>
              </a: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-testing --nodes=1 --ntasks=4 --time=1:00:00 --gres=gpu:a100_3g.20gb:1</a:t>
              </a:r>
            </a:p>
            <a:p>
              <a:pPr marL="0" indent="0">
                <a:buNone/>
              </a:pP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Export paths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IMAGES=/projects/$USER/containers/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WORKDIR=/projects/$USER/containers/ml_work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mkdir -p $IMAGES $WORKDIR &amp;&amp; cd $WORKDIR</a:t>
              </a:r>
              <a:b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Pull TensorFlow container (GPU version)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export APPTAINER_IGNORE_PROOT=1 # temporary workaround for bug</a:t>
              </a:r>
            </a:p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pull $IMAGES/pytorch-2.9.0-cuda12.8.sif docker://pytorch/pytorch:2.9.0-cuda12.8-cudnn9-runtime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78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053A-1167-6640-3776-5FAA79E0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AC35-DD26-F1CF-0D82-A7506992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Run PyTorch Container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9DA3A4A-4353-B718-51E6-01E482CCF2F9}"/>
              </a:ext>
            </a:extLst>
          </p:cNvPr>
          <p:cNvSpPr txBox="1">
            <a:spLocks/>
          </p:cNvSpPr>
          <p:nvPr/>
        </p:nvSpPr>
        <p:spPr>
          <a:xfrm>
            <a:off x="838200" y="1164166"/>
            <a:ext cx="10825480" cy="104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Build and train a small neural network with the code </a:t>
            </a:r>
            <a:r>
              <a:rPr lang="en-US" sz="2400" b="1" dirty="0">
                <a:solidFill>
                  <a:schemeClr val="accent1"/>
                </a:solidFill>
              </a:rPr>
              <a:t>polyfit.py</a:t>
            </a:r>
            <a:r>
              <a:rPr lang="en-US" sz="2400" dirty="0"/>
              <a:t>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4FEF-6502-D23B-37E2-19C0E105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DD5619-07EA-276B-4849-1F6277FE2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499" y="5417791"/>
            <a:ext cx="11110161" cy="3089644"/>
            <a:chOff x="167966" y="4161204"/>
            <a:chExt cx="10796115" cy="10135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A5DBE7-23F6-2502-0D2B-94B43B7035B3}"/>
                </a:ext>
              </a:extLst>
            </p:cNvPr>
            <p:cNvSpPr/>
            <p:nvPr/>
          </p:nvSpPr>
          <p:spPr>
            <a:xfrm>
              <a:off x="167966" y="4161204"/>
              <a:ext cx="10796115" cy="22904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ntent Placeholder 2" descr="$ apptainer exec --bind $WORKDIR:/work $IMAGES/pytorch-2.9.0-cuda12.8.sif python3 $WORKDIR/polyfit.py&#10;">
              <a:extLst>
                <a:ext uri="{FF2B5EF4-FFF2-40B4-BE49-F238E27FC236}">
                  <a16:creationId xmlns:a16="http://schemas.microsoft.com/office/drawing/2014/main" id="{CBB61BFB-5C5B-17C0-6862-AA5336C980E7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181154"/>
              <a:ext cx="10353758" cy="99356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$ apptainer exec --bind $WORKDIR:/work $IMAGES/pytorch-2.9.0-cuda12.8.sif python3 $WORKDIR/polyfit.py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90E8B72-DCB7-5DB7-CAD3-01A0DF09E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8061" y="2012660"/>
            <a:ext cx="11533939" cy="2894216"/>
            <a:chOff x="191925" y="4252715"/>
            <a:chExt cx="11093212" cy="11186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A446CC-D90C-66ED-54D4-50E34E2ECF25}"/>
                </a:ext>
              </a:extLst>
            </p:cNvPr>
            <p:cNvSpPr/>
            <p:nvPr/>
          </p:nvSpPr>
          <p:spPr>
            <a:xfrm>
              <a:off x="191925" y="4252715"/>
              <a:ext cx="10796115" cy="111867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ntent Placeholder 2" descr="import torch&#10;x = torch.linspace(-1, 1, 100).unsqueeze(1)&#10;y = 3 * x ** 2 + 2 * x + 1 + 0.1 * torch.randn(x.size())&#10;model = torch.nn.Sequential(torch.nn.Linear(1, 10), torch.nn.ReLU(), torch.nn.Linear(10, 1))&#10;loss_fn = torch.nn.MSELoss()&#10;optimizer = torch.optim.Adam(model.parameters())&#10;for epoch in range(100): optimizer.zero_grad(); loss_fn(model(x), y).backward(); optimizer.step()&#10;print(&quot;Done training.&quot;)&#10;&#10;&#10;">
              <a:extLst>
                <a:ext uri="{FF2B5EF4-FFF2-40B4-BE49-F238E27FC236}">
                  <a16:creationId xmlns:a16="http://schemas.microsoft.com/office/drawing/2014/main" id="{5FDDF8B3-2632-003A-7059-3A24F7C2BC39}"/>
                </a:ext>
              </a:extLst>
            </p:cNvPr>
            <p:cNvSpPr txBox="1">
              <a:spLocks/>
            </p:cNvSpPr>
            <p:nvPr/>
          </p:nvSpPr>
          <p:spPr>
            <a:xfrm>
              <a:off x="353768" y="4252715"/>
              <a:ext cx="10931369" cy="9881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import torch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 = torch.linspace(-1, 1, 100).unsqueeze(1)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 = 3 * x ** 2 + 2 * x + 1 + 0.1 * torch.randn(x.size())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model = torch.nn.Sequential(torch.nn.Linear(1, 10), torch.nn.ReLU(), torch.nn.Linear(10, 1))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loss_fn = torch.nn.MSELoss()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optimizer = torch.optim.Adam(model.parameters())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for epoch in range(100): optimizer.zero_grad(); loss_fn(model(x), y).backward(); optimizer.step()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print("Done training.")</a:t>
              </a:r>
            </a:p>
            <a:p>
              <a:pPr marL="0" indent="0">
                <a:spcBef>
                  <a:spcPts val="0"/>
                </a:spcBef>
                <a:buNone/>
              </a:pP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endParaRPr lang="en-US" sz="18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CC34AE6-0AE7-A04A-153E-D83FF9895D2A}"/>
              </a:ext>
            </a:extLst>
          </p:cNvPr>
          <p:cNvSpPr txBox="1">
            <a:spLocks/>
          </p:cNvSpPr>
          <p:nvPr/>
        </p:nvSpPr>
        <p:spPr>
          <a:xfrm>
            <a:off x="736162" y="4597325"/>
            <a:ext cx="10825480" cy="104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Run </a:t>
            </a:r>
            <a:r>
              <a:rPr lang="en-US" sz="2400" b="1" dirty="0">
                <a:solidFill>
                  <a:schemeClr val="accent1"/>
                </a:solidFill>
              </a:rPr>
              <a:t>polyfit.py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5613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E255-6387-0041-504C-82893C8D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127C-CC38-104C-D7D5-A6D9A4A7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4485"/>
            <a:ext cx="10883747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Troubleshooting Common Issues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5A50CA5-95F7-BBA3-650C-733ADFA33BA5}"/>
              </a:ext>
            </a:extLst>
          </p:cNvPr>
          <p:cNvSpPr txBox="1">
            <a:spLocks/>
          </p:cNvSpPr>
          <p:nvPr/>
        </p:nvSpPr>
        <p:spPr>
          <a:xfrm>
            <a:off x="848235" y="1797925"/>
            <a:ext cx="10741507" cy="4129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Check GPU access: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apptainer exec --nv $IMAGES/tensorflow-2.15.0-cuda12.8.sif python3 -c "import tensorflow as tf; print(tf.config.list_physical_devices('GPU'))"</a:t>
            </a:r>
          </a:p>
          <a:p>
            <a:r>
              <a:rPr lang="en-US" sz="2400" dirty="0"/>
              <a:t>Environment variables:</a:t>
            </a:r>
          </a:p>
          <a:p>
            <a:pPr lvl="1"/>
            <a:r>
              <a:rPr lang="en-US" sz="2000" dirty="0"/>
              <a:t>Pass with --env or set inside the container.</a:t>
            </a:r>
          </a:p>
          <a:p>
            <a:r>
              <a:rPr lang="en-US" sz="2400" dirty="0"/>
              <a:t>Resource monitoring:</a:t>
            </a:r>
          </a:p>
          <a:p>
            <a:pPr lvl="1"/>
            <a:r>
              <a:rPr lang="en-US" sz="2000" dirty="0"/>
              <a:t>Use htop, nvidia-smi, or squeue to monitor jobs.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A0921-72A6-8DBE-DCB2-74DCC7ED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2254125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6F67-8E56-602C-F0F8-52C62828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A0E8-486C-AEBE-4B56-F97CB44A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4485"/>
            <a:ext cx="10883747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Best Practices: Container Management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DE7D955-EBB0-6DF5-B6E8-A386F5660268}"/>
              </a:ext>
            </a:extLst>
          </p:cNvPr>
          <p:cNvSpPr txBox="1">
            <a:spLocks/>
          </p:cNvSpPr>
          <p:nvPr/>
        </p:nvSpPr>
        <p:spPr>
          <a:xfrm>
            <a:off x="980439" y="1797925"/>
            <a:ext cx="9926259" cy="4129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Version Control &amp; Tagging</a:t>
            </a:r>
          </a:p>
          <a:p>
            <a:pPr lvl="1"/>
            <a:r>
              <a:rPr lang="en-US" sz="2000" dirty="0"/>
              <a:t>Tag containers with specific versions (e.g., myimage:1.0.0, myimage:latest-cuda11.8).</a:t>
            </a:r>
          </a:p>
          <a:p>
            <a:pPr lvl="1"/>
            <a:r>
              <a:rPr lang="en-US" sz="2000" dirty="0"/>
              <a:t>Store definition files (.def, Dockerfiles) in version control (Git).</a:t>
            </a:r>
          </a:p>
          <a:p>
            <a:r>
              <a:rPr lang="en-US" sz="2400" dirty="0"/>
              <a:t>Data Management</a:t>
            </a:r>
          </a:p>
          <a:p>
            <a:pPr lvl="1"/>
            <a:r>
              <a:rPr lang="en-US" sz="2000" dirty="0"/>
              <a:t>Use bind mounts for large datasets to avoid including them in images.</a:t>
            </a:r>
          </a:p>
          <a:p>
            <a:pPr lvl="1"/>
            <a:r>
              <a:rPr lang="en-US" sz="2000" dirty="0"/>
              <a:t>Keep images small and focused on software environment.</a:t>
            </a:r>
          </a:p>
          <a:p>
            <a:r>
              <a:rPr lang="en-US" sz="2400" dirty="0"/>
              <a:t>Resource Allocation</a:t>
            </a:r>
          </a:p>
          <a:p>
            <a:pPr lvl="1"/>
            <a:r>
              <a:rPr lang="en-US" sz="2000" dirty="0"/>
              <a:t>Match container resource needs to SLURM (or other scheduler) requests.</a:t>
            </a:r>
          </a:p>
          <a:p>
            <a:pPr lvl="1"/>
            <a:r>
              <a:rPr lang="en-US" sz="2000" dirty="0"/>
              <a:t>Avoid over-subscribing resources.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119B-271F-E511-8EFA-79307893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  <p:extLst>
      <p:ext uri="{BB962C8B-B14F-4D97-AF65-F5344CB8AC3E}">
        <p14:creationId xmlns:p14="http://schemas.microsoft.com/office/powerpoint/2010/main" val="3530217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4496206" y="4730057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Any Questions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81316737-E39C-896D-10BE-E6C435DF9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9702" y="920745"/>
            <a:ext cx="4114800" cy="4114800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00DB599-B224-4128-8866-DED75240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70515"/>
            <a:ext cx="2743200" cy="365125"/>
          </a:xfrm>
        </p:spPr>
        <p:txBody>
          <a:bodyPr/>
          <a:lstStyle/>
          <a:p>
            <a:pPr algn="ctr"/>
            <a:r>
              <a:rPr lang="en-US" dirty="0"/>
              <a:t>9/9/2026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B Content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16b9d-8c83-445e-a4f4-1fe3d2f43f13" xsi:nil="true"/>
    <lcf76f155ced4ddcb4097134ff3c332f xmlns="7e49f7d3-8802-46ca-9604-495ce27f67f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320DB280744439FF1CC777D09ECA4" ma:contentTypeVersion="15" ma:contentTypeDescription="Create a new document." ma:contentTypeScope="" ma:versionID="e50b92032c956cc777cf00ac7d475189">
  <xsd:schema xmlns:xsd="http://www.w3.org/2001/XMLSchema" xmlns:xs="http://www.w3.org/2001/XMLSchema" xmlns:p="http://schemas.microsoft.com/office/2006/metadata/properties" xmlns:ns2="7e49f7d3-8802-46ca-9604-495ce27f67f4" xmlns:ns3="a1519f9a-9d6a-41c1-afc9-552e4069f82f" xmlns:ns4="92c16b9d-8c83-445e-a4f4-1fe3d2f43f13" targetNamespace="http://schemas.microsoft.com/office/2006/metadata/properties" ma:root="true" ma:fieldsID="fcd7cab68a23f1df7b42ced4f3edf141" ns2:_="" ns3:_="" ns4:_="">
    <xsd:import namespace="7e49f7d3-8802-46ca-9604-495ce27f67f4"/>
    <xsd:import namespace="a1519f9a-9d6a-41c1-afc9-552e4069f82f"/>
    <xsd:import namespace="92c16b9d-8c83-445e-a4f4-1fe3d2f43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9f7d3-8802-46ca-9604-495ce27f67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19f9a-9d6a-41c1-afc9-552e4069f82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16b9d-8c83-445e-a4f4-1fe3d2f43f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5373c19-887a-4e93-8582-23ebe3fe2f18}" ma:internalName="TaxCatchAll" ma:showField="CatchAllData" ma:web="a1519f9a-9d6a-41c1-afc9-552e4069f8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B02FF4-25A1-49FE-9DF7-DD19F525B7FA}">
  <ds:schemaRefs>
    <ds:schemaRef ds:uri="7e49f7d3-8802-46ca-9604-495ce27f67f4"/>
    <ds:schemaRef ds:uri="http://purl.org/dc/dcmitype/"/>
    <ds:schemaRef ds:uri="a1519f9a-9d6a-41c1-afc9-552e4069f82f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2c16b9d-8c83-445e-a4f4-1fe3d2f43f13"/>
  </ds:schemaRefs>
</ds:datastoreItem>
</file>

<file path=customXml/itemProps2.xml><?xml version="1.0" encoding="utf-8"?>
<ds:datastoreItem xmlns:ds="http://schemas.openxmlformats.org/officeDocument/2006/customXml" ds:itemID="{06B4C708-AA43-4CE7-BE2D-F9D9A02F49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BC22CE-40EC-4545-8FE9-90326628051D}">
  <ds:schemaRefs>
    <ds:schemaRef ds:uri="7e49f7d3-8802-46ca-9604-495ce27f67f4"/>
    <ds:schemaRef ds:uri="92c16b9d-8c83-445e-a4f4-1fe3d2f43f13"/>
    <ds:schemaRef ds:uri="a1519f9a-9d6a-41c1-afc9-552e4069f8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31900</TotalTime>
  <Words>2259</Words>
  <Application>Microsoft Office PowerPoint</Application>
  <PresentationFormat>Widescreen</PresentationFormat>
  <Paragraphs>317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Century Gothic</vt:lpstr>
      <vt:lpstr>Courier New</vt:lpstr>
      <vt:lpstr>Helvetica Neue</vt:lpstr>
      <vt:lpstr>Monaco</vt:lpstr>
      <vt:lpstr>CUB Content </vt:lpstr>
      <vt:lpstr>Custom Design</vt:lpstr>
      <vt:lpstr>Applied Containerization for Machine Learning in HPC</vt:lpstr>
      <vt:lpstr>Applied Containerization for Machine Learning in HPC</vt:lpstr>
      <vt:lpstr>PowerPoint Presentation</vt:lpstr>
      <vt:lpstr>Overview</vt:lpstr>
      <vt:lpstr>Why Containers for ML in HPC?</vt:lpstr>
      <vt:lpstr>Why Containers for ML in HPC? (cont.)</vt:lpstr>
      <vt:lpstr>Containerization Concepts</vt:lpstr>
      <vt:lpstr>What is a container?</vt:lpstr>
      <vt:lpstr>Containers vs. Virtual Machines (VMs)</vt:lpstr>
      <vt:lpstr>Key Components</vt:lpstr>
      <vt:lpstr>Key Components (cont.)</vt:lpstr>
      <vt:lpstr>Apptainer (formerly Singularity)</vt:lpstr>
      <vt:lpstr>Apptainer Definition Files</vt:lpstr>
      <vt:lpstr>Working with Apptainer on CURC</vt:lpstr>
      <vt:lpstr>Working with Apptainer on CURC</vt:lpstr>
      <vt:lpstr>Useful Commands</vt:lpstr>
      <vt:lpstr>Using images from a pre-built container</vt:lpstr>
      <vt:lpstr>Getting Started with TensorFlow</vt:lpstr>
      <vt:lpstr>Binding Paths &amp; Running TF Script</vt:lpstr>
      <vt:lpstr>Sample TensorFlow Script: mnist_tf.py</vt:lpstr>
      <vt:lpstr>Access container interactively</vt:lpstr>
      <vt:lpstr>SLURM Integration: run_mnist_tf.sh</vt:lpstr>
      <vt:lpstr>Getting Started with PyTorch</vt:lpstr>
      <vt:lpstr>Run PyTorch Container</vt:lpstr>
      <vt:lpstr>Troubleshooting Common Issues</vt:lpstr>
      <vt:lpstr>Best Practices: Container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CURC Alpine Allocations</dc:title>
  <dc:creator>Layla Freeborn</dc:creator>
  <cp:lastModifiedBy>Mohal Khandelwal</cp:lastModifiedBy>
  <cp:revision>111</cp:revision>
  <cp:lastPrinted>2026-09-09T16:45:46Z</cp:lastPrinted>
  <dcterms:created xsi:type="dcterms:W3CDTF">2023-01-13T17:07:22Z</dcterms:created>
  <dcterms:modified xsi:type="dcterms:W3CDTF">2026-09-09T16:58:19Z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0x010100DC7320DB280744439FF1CC777D09ECA4</vt:lpwstr>
  </property>
</Properties>
</file>